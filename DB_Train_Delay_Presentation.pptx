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1E8422C-62E2-4C0F-A88F-6F79CBCC6A7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C3647-D4D6-4F85-8F0E-1D95735AC2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B6D93F-2C9A-485B-8E54-564014BC12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B6E48-EA3F-4176-BBA8-1608E60150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E28E4F-F803-434B-AF38-15BFEFF6E4C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7D4CFA-2CF2-4A49-BDDA-96F8C60DEE1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C70036-9881-4990-951D-85B57BD1A3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48274-ACC3-4B7E-93AF-93ADA3E1AE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21775-C93B-4FE2-B9BA-FC3B335F3B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3E2E71-9D5A-4BCC-879C-FA5F6251C1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2EAC5-4309-455B-A3C2-48CC47BBB33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8D1D9-DEF4-4F04-8397-905EDD870F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6528600"/>
            <a:ext cx="11183040" cy="360"/>
          </a:xfrm>
          <a:prstGeom prst="line">
            <a:avLst/>
          </a:prstGeom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280" y="65563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Deutsche Bahn Train Delay Analysis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38360" y="655632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DATA VISUALIZATION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E7F69F-7A87-454A-BA70-5668C0C9A495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https://github.com/sksohailhussain10-spec/deutsche-bahn-delay-analysis" TargetMode="External"/><Relationship Id="rId3" Type="http://schemas.openxmlformats.org/officeDocument/2006/relationships/hyperlink" Target="https://github.com/sksohailhussain10-spec/deutsche-bahn-delay-analysis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deutsche-bahn-delay-analysis-7rj2tgss6za6aykj3zjnjr.streamlit.app" TargetMode="External"/><Relationship Id="rId6" Type="http://schemas.openxmlformats.org/officeDocument/2006/relationships/hyperlink" Target="https://deutsche-bahn-delay-analysis-7rj2tgss6za6aykj3zjnjr.streamlit.app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 flipH="1">
            <a:off x="621792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 flipH="1">
            <a:off x="672084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 flipH="1">
            <a:off x="722376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 flipH="1">
            <a:off x="772668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 flipH="1">
            <a:off x="822960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 flipH="1">
            <a:off x="873252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 flipH="1">
            <a:off x="9235440" y="0"/>
            <a:ext cx="1097280" cy="6858000"/>
          </a:xfrm>
          <a:prstGeom prst="line">
            <a:avLst/>
          </a:prstGeom>
          <a:ln w="15240">
            <a:solidFill>
              <a:srgbClr val="284a6a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8595360" y="1170360"/>
            <a:ext cx="2057040" cy="28800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f8fbff"/>
            </a:solidFill>
            <a:round/>
          </a:ln>
          <a:effectLst>
            <a:outerShdw algn="bl" blurRad="38160" dir="2700000" dist="50402" kx="0" ky="0" rotWithShape="0" sx="100000" sy="100000">
              <a:srgbClr val="0a1b2c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8888040" y="1481400"/>
            <a:ext cx="1471680" cy="676440"/>
          </a:xfrm>
          <a:prstGeom prst="roundRect">
            <a:avLst>
              <a:gd name="adj" fmla="val 12162"/>
            </a:avLst>
          </a:prstGeom>
          <a:solidFill>
            <a:srgbClr val="4d8fd1"/>
          </a:solidFill>
          <a:ln w="12700">
            <a:solidFill>
              <a:srgbClr val="4d8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8942760" y="3191400"/>
            <a:ext cx="255600" cy="255600"/>
          </a:xfrm>
          <a:prstGeom prst="ellipse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10076760" y="3191400"/>
            <a:ext cx="255600" cy="255600"/>
          </a:xfrm>
          <a:prstGeom prst="ellipse">
            <a:avLst/>
          </a:prstGeom>
          <a:solidFill>
            <a:srgbClr val="e6a100"/>
          </a:solidFill>
          <a:ln w="12700">
            <a:solidFill>
              <a:srgbClr val="e6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8924400" y="3684960"/>
            <a:ext cx="1426320" cy="360"/>
          </a:xfrm>
          <a:prstGeom prst="line">
            <a:avLst/>
          </a:prstGeom>
          <a:ln w="2794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 flipH="1">
            <a:off x="8668440" y="3684960"/>
            <a:ext cx="475560" cy="658440"/>
          </a:xfrm>
          <a:prstGeom prst="line">
            <a:avLst/>
          </a:prstGeom>
          <a:ln w="317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10131480" y="3684960"/>
            <a:ext cx="475560" cy="658440"/>
          </a:xfrm>
          <a:prstGeom prst="line">
            <a:avLst/>
          </a:prstGeom>
          <a:ln w="317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713160" y="10058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119" strike="noStrike" u="none">
                <a:solidFill>
                  <a:srgbClr val="9ec3e6"/>
                </a:solidFill>
                <a:effectLst/>
                <a:uFillTx/>
                <a:latin typeface="Arial"/>
                <a:ea typeface="Arial"/>
              </a:rPr>
              <a:t>DEUTSCHE BAHN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713160" y="1444680"/>
            <a:ext cx="6766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Train Delay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731520" y="29901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8e5f1"/>
                </a:solidFill>
                <a:effectLst/>
                <a:uFillTx/>
                <a:latin typeface="Arial"/>
                <a:ea typeface="Arial"/>
              </a:rPr>
              <a:t>Final Data Visualization Project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731520" y="3529440"/>
            <a:ext cx="4297680" cy="360"/>
          </a:xfrm>
          <a:prstGeom prst="line">
            <a:avLst/>
          </a:prstGeom>
          <a:ln w="3175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731520" y="3822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SHAIK KHAJA SOHAIL HUSSAIN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731520" y="4224600"/>
            <a:ext cx="6217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8e5f1"/>
                </a:solidFill>
                <a:effectLst/>
                <a:uFillTx/>
                <a:latin typeface="Arial"/>
                <a:ea typeface="Arial"/>
              </a:rPr>
              <a:t>Matriculation No. 82022509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d8e5f1"/>
                </a:solidFill>
                <a:effectLst/>
                <a:uFillTx/>
                <a:latin typeface="Arial"/>
                <a:ea typeface="Arial"/>
              </a:rPr>
              <a:t>Subject: DATA VISUALIZATION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731520" y="600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ec3e6"/>
                </a:solidFill>
                <a:effectLst/>
                <a:uFillTx/>
                <a:latin typeface="Arial"/>
                <a:ea typeface="Arial"/>
              </a:rPr>
              <a:t>Summer 2026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SCOPE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Project at a glance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A compact summary of the cleaned dataset, analytical focus and overall reliability picture.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30280" y="1463040"/>
            <a:ext cx="214848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530280" y="1463040"/>
            <a:ext cx="72720" cy="1133640"/>
          </a:xfrm>
          <a:prstGeom prst="rect">
            <a:avLst/>
          </a:prstGeom>
          <a:solidFill>
            <a:srgbClr val="1f6fc2"/>
          </a:solidFill>
          <a:ln w="12700">
            <a:solidFill>
              <a:srgbClr val="1f6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618560"/>
            <a:ext cx="1855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76,476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731520" y="2121480"/>
            <a:ext cx="185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cleaned service records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2825640" y="1463040"/>
            <a:ext cx="214848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2825640" y="1463040"/>
            <a:ext cx="72720" cy="1133640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3026520" y="1618560"/>
            <a:ext cx="1855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20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3026520" y="2121480"/>
            <a:ext cx="185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major German stations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5120640" y="1463040"/>
            <a:ext cx="214848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5120640" y="1463040"/>
            <a:ext cx="72720" cy="1133640"/>
          </a:xfrm>
          <a:prstGeom prst="rect">
            <a:avLst/>
          </a:prstGeom>
          <a:solidFill>
            <a:srgbClr val="009e73"/>
          </a:solidFill>
          <a:ln w="127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5321880" y="1618560"/>
            <a:ext cx="1855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8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5321880" y="2121480"/>
            <a:ext cx="185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sampled dates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7415640" y="1463040"/>
            <a:ext cx="214848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7415640" y="1463040"/>
            <a:ext cx="72720" cy="1133640"/>
          </a:xfrm>
          <a:prstGeom prst="rect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7616880" y="1618560"/>
            <a:ext cx="1855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44.4%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7616880" y="2121480"/>
            <a:ext cx="185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overall delay rate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9711000" y="1463040"/>
            <a:ext cx="1947240" cy="1133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0"/>
          <p:cNvSpPr/>
          <p:nvPr/>
        </p:nvSpPr>
        <p:spPr>
          <a:xfrm>
            <a:off x="9711000" y="1463040"/>
            <a:ext cx="72720" cy="1133640"/>
          </a:xfrm>
          <a:prstGeom prst="rect">
            <a:avLst/>
          </a:prstGeom>
          <a:solidFill>
            <a:srgbClr val="e6a100"/>
          </a:solidFill>
          <a:ln w="12700">
            <a:solidFill>
              <a:srgbClr val="e6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9912240" y="1618560"/>
            <a:ext cx="1654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3.0 min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9912240" y="2121480"/>
            <a:ext cx="165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median actual delay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530280" y="2907720"/>
            <a:ext cx="6629040" cy="24868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768240" y="3173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Core research question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768240" y="3547800"/>
            <a:ext cx="6034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How do train delays differ by station, train category, time, sampled date and recorded disruption reason across major German railway stations?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768240" y="4663440"/>
            <a:ext cx="601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analysis separates delay frequency from delay severity, so high-volume stations are not automatically treated as the least reliable.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7"/>
          <p:cNvSpPr/>
          <p:nvPr/>
        </p:nvSpPr>
        <p:spPr>
          <a:xfrm>
            <a:off x="7360920" y="2907720"/>
            <a:ext cx="4297320" cy="2486880"/>
          </a:xfrm>
          <a:prstGeom prst="roundRect">
            <a:avLst>
              <a:gd name="adj" fmla="val 2941"/>
            </a:avLst>
          </a:prstGeom>
          <a:solidFill>
            <a:srgbClr val="f0f5fb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7635240" y="317304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What the project delivers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7635240" y="3584520"/>
            <a:ext cx="3520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3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10 analytical questions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3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10 explanatory Plotly visualisations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3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Interactive Streamlit dashboard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3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Public GitHub repository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3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Notebook export and presentation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Source: final_analysis.ipynb and project README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5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9CDE3F-D972-491A-8621-9231448D4FC7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METHOD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From raw train records to decision-ready insights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workflow preserves the original data, creates interpretable features and then tests multiple reliability dimensions.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67000" y="1481400"/>
            <a:ext cx="2029680" cy="205704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731520" y="1673280"/>
            <a:ext cx="493560" cy="493560"/>
          </a:xfrm>
          <a:prstGeom prst="ellipse">
            <a:avLst/>
          </a:prstGeom>
          <a:solidFill>
            <a:srgbClr val="1f6fc2"/>
          </a:solidFill>
          <a:ln w="12700">
            <a:solidFill>
              <a:srgbClr val="1f6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731520" y="1783080"/>
            <a:ext cx="49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731520" y="231336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Raw data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731520" y="2724840"/>
            <a:ext cx="1608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77,146 rows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9 original fields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2642760" y="2313360"/>
            <a:ext cx="347040" cy="402120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2871360" y="1481400"/>
            <a:ext cx="2029680" cy="205704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3035880" y="1673280"/>
            <a:ext cx="493560" cy="493560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3035880" y="1783080"/>
            <a:ext cx="49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3035880" y="231336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Cleaning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3035880" y="2724840"/>
            <a:ext cx="1608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670 exact duplicates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removed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4946760" y="2313360"/>
            <a:ext cx="347040" cy="402120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5175360" y="1481400"/>
            <a:ext cx="2029680" cy="205704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340240" y="1673280"/>
            <a:ext cx="493560" cy="493560"/>
          </a:xfrm>
          <a:prstGeom prst="ellipse">
            <a:avLst/>
          </a:prstGeom>
          <a:solidFill>
            <a:srgbClr val="009e73"/>
          </a:solidFill>
          <a:ln w="127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5340240" y="1783080"/>
            <a:ext cx="49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5340240" y="231336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Feature engineering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5340240" y="2724840"/>
            <a:ext cx="1608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delay minutes, hour,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day type, train group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7251120" y="2313360"/>
            <a:ext cx="347040" cy="402120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7479720" y="1481400"/>
            <a:ext cx="2029680" cy="205704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7644240" y="1673280"/>
            <a:ext cx="493560" cy="493560"/>
          </a:xfrm>
          <a:prstGeom prst="ellipse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7644240" y="1783080"/>
            <a:ext cx="49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7644240" y="231336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7644240" y="2724840"/>
            <a:ext cx="1608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10 multidimensional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questions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9555480" y="2313360"/>
            <a:ext cx="347040" cy="402120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/>
          <p:cNvSpPr/>
          <p:nvPr/>
        </p:nvSpPr>
        <p:spPr>
          <a:xfrm>
            <a:off x="9784080" y="1481400"/>
            <a:ext cx="2029680" cy="205704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9948600" y="1673280"/>
            <a:ext cx="493560" cy="493560"/>
          </a:xfrm>
          <a:prstGeom prst="ellipse">
            <a:avLst/>
          </a:prstGeom>
          <a:solidFill>
            <a:srgbClr val="e6a100"/>
          </a:solidFill>
          <a:ln w="12700">
            <a:solidFill>
              <a:srgbClr val="e6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9948600" y="1783080"/>
            <a:ext cx="49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9948600" y="231336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Delivery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9948600" y="2724840"/>
            <a:ext cx="1608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dashboard, GitHub,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HTML &amp; PPT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567000" y="3867840"/>
            <a:ext cx="11063880" cy="1517400"/>
          </a:xfrm>
          <a:prstGeom prst="roundRect">
            <a:avLst>
              <a:gd name="adj" fmla="val 4819"/>
            </a:avLst>
          </a:prstGeom>
          <a:solidFill>
            <a:srgbClr val="fbfcfe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786240" y="41331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Key engineered variables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>
            <a:off x="786240" y="4553640"/>
            <a:ext cx="1992960" cy="32868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5"/>
          <p:cNvSpPr/>
          <p:nvPr/>
        </p:nvSpPr>
        <p:spPr>
          <a:xfrm>
            <a:off x="896040" y="4617720"/>
            <a:ext cx="1773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actual_delay_minutes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>
            <a:off x="2926080" y="4553640"/>
            <a:ext cx="1389600" cy="32868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 w="12700">
            <a:solidFill>
              <a:srgbClr val="fded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7"/>
          <p:cNvSpPr/>
          <p:nvPr/>
        </p:nvSpPr>
        <p:spPr>
          <a:xfrm>
            <a:off x="3035880" y="461772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train_group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4480560" y="4553640"/>
            <a:ext cx="822600" cy="328680"/>
          </a:xfrm>
          <a:prstGeom prst="roundRect">
            <a:avLst>
              <a:gd name="adj" fmla="val 50000"/>
            </a:avLst>
          </a:prstGeom>
          <a:solidFill>
            <a:srgbClr val="ecf8f3"/>
          </a:solidFill>
          <a:ln w="12700">
            <a:solidFill>
              <a:srgbClr val="ecf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9"/>
          <p:cNvSpPr/>
          <p:nvPr/>
        </p:nvSpPr>
        <p:spPr>
          <a:xfrm>
            <a:off x="4590360" y="4617720"/>
            <a:ext cx="603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9e73"/>
                </a:solidFill>
                <a:effectLst/>
                <a:uFillTx/>
                <a:latin typeface="Arial"/>
                <a:ea typeface="Arial"/>
              </a:rPr>
              <a:t>hour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0"/>
          <p:cNvSpPr/>
          <p:nvPr/>
        </p:nvSpPr>
        <p:spPr>
          <a:xfrm>
            <a:off x="5468040" y="4553640"/>
            <a:ext cx="1151640" cy="32868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12700">
            <a:solidFill>
              <a:srgbClr val="fff4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/>
          <p:cNvSpPr/>
          <p:nvPr/>
        </p:nvSpPr>
        <p:spPr>
          <a:xfrm>
            <a:off x="5577840" y="4617720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9b6a00"/>
                </a:solidFill>
                <a:effectLst/>
                <a:uFillTx/>
                <a:latin typeface="Arial"/>
                <a:ea typeface="Arial"/>
              </a:rPr>
              <a:t>day_type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2"/>
          <p:cNvSpPr/>
          <p:nvPr/>
        </p:nvSpPr>
        <p:spPr>
          <a:xfrm>
            <a:off x="6784920" y="4553640"/>
            <a:ext cx="1682280" cy="328680"/>
          </a:xfrm>
          <a:prstGeom prst="roundRect">
            <a:avLst>
              <a:gd name="adj" fmla="val 50000"/>
            </a:avLst>
          </a:prstGeom>
          <a:solidFill>
            <a:srgbClr val="f1edf8"/>
          </a:solidFill>
          <a:ln w="12700">
            <a:solidFill>
              <a:srgbClr val="f1e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/>
          <p:cNvSpPr/>
          <p:nvPr/>
        </p:nvSpPr>
        <p:spPr>
          <a:xfrm>
            <a:off x="6894720" y="461772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6b4fa3"/>
                </a:solidFill>
                <a:effectLst/>
                <a:uFillTx/>
                <a:latin typeface="Arial"/>
                <a:ea typeface="Arial"/>
              </a:rPr>
              <a:t>platform_change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4"/>
          <p:cNvSpPr/>
          <p:nvPr/>
        </p:nvSpPr>
        <p:spPr>
          <a:xfrm>
            <a:off x="8632080" y="4553640"/>
            <a:ext cx="1444320" cy="32868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12700">
            <a:solidFill>
              <a:srgbClr val="ed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5"/>
          <p:cNvSpPr/>
          <p:nvPr/>
        </p:nvSpPr>
        <p:spPr>
          <a:xfrm>
            <a:off x="8741520" y="461772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delay_reason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6"/>
          <p:cNvSpPr/>
          <p:nvPr/>
        </p:nvSpPr>
        <p:spPr>
          <a:xfrm>
            <a:off x="786240" y="5020200"/>
            <a:ext cx="996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original CSV remains unchanged in data/raw; the cleaned file is saved separately in data/processed.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7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Dataset: Trains and Delays Deutsche Bahn (Kaggle, CC0); underlying Deutsche Bahn station-board information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6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48207-4DC9-4A32-AA7D-44D5D5305C4D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1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Station reliability varies far more than service volume alone can explain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München Hbf combines one of the highest service volumes with the highest recorded delay rate.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530280" y="1298520"/>
            <a:ext cx="8183520" cy="4736160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0" descr="/mnt/data/newplot (9).png"/>
          <p:cNvPicPr/>
          <p:nvPr/>
        </p:nvPicPr>
        <p:blipFill>
          <a:blip r:embed="rId1"/>
          <a:stretch/>
        </p:blipFill>
        <p:spPr>
          <a:xfrm>
            <a:off x="548640" y="1825920"/>
            <a:ext cx="8146800" cy="36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hape 4"/>
          <p:cNvSpPr/>
          <p:nvPr/>
        </p:nvSpPr>
        <p:spPr>
          <a:xfrm>
            <a:off x="8942760" y="1298520"/>
            <a:ext cx="2715480" cy="4736160"/>
          </a:xfrm>
          <a:prstGeom prst="roundRect">
            <a:avLst>
              <a:gd name="adj" fmla="val 2694"/>
            </a:avLst>
          </a:prstGeom>
          <a:solidFill>
            <a:srgbClr val="f2f6fb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9180720" y="16002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Key takeaways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9180720" y="208476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90.1%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9180720" y="259704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München Hbf delay rate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9180720" y="31273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87524"/>
                </a:solidFill>
                <a:effectLst/>
                <a:uFillTx/>
                <a:latin typeface="Arial"/>
                <a:ea typeface="Arial"/>
              </a:rPr>
              <a:t>67.6%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9180720" y="351144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Münster (Westf) Hbf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9180720" y="409644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17.9%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9180720" y="44805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Hamburg Hbf despite high volume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9180360" y="5138640"/>
            <a:ext cx="201168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9180720" y="531252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9180720" y="5577840"/>
            <a:ext cx="1992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Delay rate gives a fairer comparison than delayed-service counts alone.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 1 - station delay rate versus recorded service volume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7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79A1B8-9DAC-41C8-941B-0CE316BAE1CE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Long-distance services are the core reliability issue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They are delayed most often and, when delayed, typically remain late for longer.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530280" y="1353240"/>
            <a:ext cx="5595840" cy="404136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/mnt/data/newplot (8).png"/>
          <p:cNvPicPr/>
          <p:nvPr/>
        </p:nvPicPr>
        <p:blipFill>
          <a:blip r:embed="rId1"/>
          <a:stretch/>
        </p:blipFill>
        <p:spPr>
          <a:xfrm>
            <a:off x="548640" y="2117880"/>
            <a:ext cx="5559120" cy="251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ape 4"/>
          <p:cNvSpPr/>
          <p:nvPr/>
        </p:nvSpPr>
        <p:spPr>
          <a:xfrm>
            <a:off x="6327720" y="1353240"/>
            <a:ext cx="5330520" cy="404136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1" descr="/mnt/data/newplot (4).png"/>
          <p:cNvPicPr/>
          <p:nvPr/>
        </p:nvPicPr>
        <p:blipFill>
          <a:blip r:embed="rId2"/>
          <a:stretch/>
        </p:blipFill>
        <p:spPr>
          <a:xfrm>
            <a:off x="6346080" y="2089800"/>
            <a:ext cx="5294160" cy="256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Shape 5"/>
          <p:cNvSpPr/>
          <p:nvPr/>
        </p:nvSpPr>
        <p:spPr>
          <a:xfrm>
            <a:off x="530280" y="5577840"/>
            <a:ext cx="11127960" cy="529920"/>
          </a:xfrm>
          <a:prstGeom prst="roundRect">
            <a:avLst>
              <a:gd name="adj" fmla="val 13793"/>
            </a:avLst>
          </a:prstGeom>
          <a:solidFill>
            <a:srgbClr val="f8fafd"/>
          </a:solidFill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77240" y="5715000"/>
            <a:ext cx="1056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Frequency: </a:t>
            </a:r>
            <a:r>
              <a:rPr b="0" lang="en-US" sz="123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75.6% of long-distance records were delayed.  </a:t>
            </a:r>
            <a:r>
              <a:rPr b="1" lang="en-US" sz="123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Severity: </a:t>
            </a:r>
            <a:r>
              <a:rPr b="0" lang="en-US" sz="123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median actual delay was about 10 minutes, versus 2-3 minutes for the other main groups.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Questions 2 and 6 - delay rate and actual delay severity by train group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8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3E4EA7-D2F4-48B2-B5AE-2B3D9D112340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Long-distance services remain the most delay-prone throughout the day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gap between service types is more persistent than any single peak-hour effect.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530280" y="1353240"/>
            <a:ext cx="7406280" cy="4452840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/mnt/data/newplot (7).png"/>
          <p:cNvPicPr/>
          <p:nvPr/>
        </p:nvPicPr>
        <p:blipFill>
          <a:blip r:embed="rId1"/>
          <a:stretch/>
        </p:blipFill>
        <p:spPr>
          <a:xfrm>
            <a:off x="548640" y="1792080"/>
            <a:ext cx="7369560" cy="357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Shape 4"/>
          <p:cNvSpPr/>
          <p:nvPr/>
        </p:nvSpPr>
        <p:spPr>
          <a:xfrm>
            <a:off x="8156520" y="1353240"/>
            <a:ext cx="3501720" cy="44528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8394120" y="159120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Weekday vs weekend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1" descr="/mnt/data/newplot (5).png"/>
          <p:cNvPicPr/>
          <p:nvPr/>
        </p:nvPicPr>
        <p:blipFill>
          <a:blip r:embed="rId2"/>
          <a:stretch/>
        </p:blipFill>
        <p:spPr>
          <a:xfrm>
            <a:off x="8321040" y="2147040"/>
            <a:ext cx="3154320" cy="15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Shape 6"/>
          <p:cNvSpPr/>
          <p:nvPr/>
        </p:nvSpPr>
        <p:spPr>
          <a:xfrm>
            <a:off x="8394120" y="4050720"/>
            <a:ext cx="274320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8394120" y="4251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What changes?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394120" y="4535280"/>
            <a:ext cx="2815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Long-distance: slightly worse on weekdays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Regional: higher delay rate on weekends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S-Bahn: small weekend improvement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Questions 3 and 5 - hourly and weekday/weekend delay-rate patterns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9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0E015C-7EB2-457E-957C-B1435B44493C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4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The “worst” station changes when delay severity is considered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München leads on delay rate, but Bielefeld and Bonn show longer typical delays.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30280" y="1353240"/>
            <a:ext cx="8183520" cy="4690440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/mnt/data/newplot (3).png"/>
          <p:cNvPicPr/>
          <p:nvPr/>
        </p:nvPicPr>
        <p:blipFill>
          <a:blip r:embed="rId1"/>
          <a:stretch/>
        </p:blipFill>
        <p:spPr>
          <a:xfrm>
            <a:off x="548640" y="1722240"/>
            <a:ext cx="8146800" cy="39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Shape 4"/>
          <p:cNvSpPr/>
          <p:nvPr/>
        </p:nvSpPr>
        <p:spPr>
          <a:xfrm>
            <a:off x="8961120" y="1353240"/>
            <a:ext cx="2697120" cy="4690440"/>
          </a:xfrm>
          <a:prstGeom prst="roundRect">
            <a:avLst>
              <a:gd name="adj" fmla="val 2712"/>
            </a:avLst>
          </a:prstGeom>
          <a:solidFill>
            <a:srgbClr val="f5f8fc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198720" y="16369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Median delay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9198720" y="2075760"/>
            <a:ext cx="164160" cy="164160"/>
          </a:xfrm>
          <a:prstGeom prst="ellipse">
            <a:avLst/>
          </a:prstGeom>
          <a:solidFill>
            <a:srgbClr val="e44b3c"/>
          </a:solidFill>
          <a:ln w="12700">
            <a:solidFill>
              <a:srgbClr val="e44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9455040" y="2057400"/>
            <a:ext cx="1444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Bielefeld Hbf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10918080" y="2057400"/>
            <a:ext cx="456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9 min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9198720" y="2578680"/>
            <a:ext cx="164160" cy="164160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9455040" y="2560320"/>
            <a:ext cx="1444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Bonn Hbf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10918080" y="2560320"/>
            <a:ext cx="456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e87524"/>
                </a:solidFill>
                <a:effectLst/>
                <a:uFillTx/>
                <a:latin typeface="Arial"/>
                <a:ea typeface="Arial"/>
              </a:rPr>
              <a:t>8 min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9198720" y="3081600"/>
            <a:ext cx="164160" cy="164160"/>
          </a:xfrm>
          <a:prstGeom prst="ellipse">
            <a:avLst/>
          </a:prstGeom>
          <a:solidFill>
            <a:srgbClr val="1f6fc2"/>
          </a:solidFill>
          <a:ln w="12700">
            <a:solidFill>
              <a:srgbClr val="1f6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9455040" y="3063240"/>
            <a:ext cx="1444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Münster (Westf) Hbf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10918080" y="3063240"/>
            <a:ext cx="456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7 min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9198720" y="3767040"/>
            <a:ext cx="201168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9198720" y="39866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90th-percentile delays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9198720" y="4352400"/>
            <a:ext cx="1992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~40-41 minutes at Bielefeld, Bonn and Münster.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9198720" y="5120640"/>
            <a:ext cx="1992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Therefore, delay rate and delay duration should be reported separately.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 7 - median and 90th-percentile actual delay by station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Num" idx="10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AD2F5-3559-4A5C-8AB7-5BD4A7D640B9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5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Delay frequency and delay duration peak on different days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No single date was worst on every reliability measure.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530280" y="1353240"/>
            <a:ext cx="7973280" cy="468144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/mnt/data/newplot (2).png"/>
          <p:cNvPicPr/>
          <p:nvPr/>
        </p:nvPicPr>
        <p:blipFill>
          <a:blip r:embed="rId1"/>
          <a:stretch/>
        </p:blipFill>
        <p:spPr>
          <a:xfrm>
            <a:off x="548640" y="1768680"/>
            <a:ext cx="7936560" cy="38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ape 4"/>
          <p:cNvSpPr/>
          <p:nvPr/>
        </p:nvSpPr>
        <p:spPr>
          <a:xfrm>
            <a:off x="8741520" y="1353240"/>
            <a:ext cx="2916720" cy="1992960"/>
          </a:xfrm>
          <a:prstGeom prst="roundRect">
            <a:avLst>
              <a:gd name="adj" fmla="val 3670"/>
            </a:avLst>
          </a:prstGeom>
          <a:solidFill>
            <a:srgbClr val="fdece9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8997840" y="16369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1 September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8997840" y="1993320"/>
            <a:ext cx="1645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48.2%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8997840" y="2450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highest delay rate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8741520" y="3547800"/>
            <a:ext cx="2916720" cy="1992960"/>
          </a:xfrm>
          <a:prstGeom prst="roundRect">
            <a:avLst>
              <a:gd name="adj" fmla="val 3670"/>
            </a:avLst>
          </a:prstGeom>
          <a:solidFill>
            <a:srgbClr val="eaf2fb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8997840" y="38314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23 July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8997840" y="4187880"/>
            <a:ext cx="1919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f6fc2"/>
                </a:solidFill>
                <a:effectLst/>
                <a:uFillTx/>
                <a:latin typeface="Arial"/>
                <a:ea typeface="Arial"/>
              </a:rPr>
              <a:t>6.5 min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8997840" y="4645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longest average actual delay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8997840" y="5175360"/>
            <a:ext cx="217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This is why the project uses both frequency and severity metrics.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 8 - sampled dates compared by delay rate, average delay and service volume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sldNum" idx="11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D1562-84C7-4D16-8DC8-F75BCBF37F84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FINDING 6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Less-common disruptions can produce the most severe delays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most frequent operational issue is not necessarily the most damaging.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30280" y="1353240"/>
            <a:ext cx="8183520" cy="468144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mnt/data/newplot (1).png"/>
          <p:cNvPicPr/>
          <p:nvPr/>
        </p:nvPicPr>
        <p:blipFill>
          <a:blip r:embed="rId1"/>
          <a:stretch/>
        </p:blipFill>
        <p:spPr>
          <a:xfrm>
            <a:off x="548640" y="1717920"/>
            <a:ext cx="8146800" cy="39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hape 4"/>
          <p:cNvSpPr/>
          <p:nvPr/>
        </p:nvSpPr>
        <p:spPr>
          <a:xfrm>
            <a:off x="8961120" y="1353240"/>
            <a:ext cx="2697120" cy="4681440"/>
          </a:xfrm>
          <a:prstGeom prst="roundRect">
            <a:avLst>
              <a:gd name="adj" fmla="val 2712"/>
            </a:avLst>
          </a:prstGeom>
          <a:solidFill>
            <a:srgbClr val="f7f9fc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9189720" y="162756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Highest median delays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9189720" y="20484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33.0 min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9189720" y="246888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Delay originating abroad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9189720" y="305424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e87524"/>
                </a:solidFill>
                <a:effectLst/>
                <a:uFillTx/>
                <a:latin typeface="Arial"/>
                <a:ea typeface="Arial"/>
              </a:rPr>
              <a:t>28.5 min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9189720" y="347472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Train diversion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9189720" y="4041360"/>
            <a:ext cx="199332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9189720" y="42609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Platform changes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9189720" y="4626720"/>
            <a:ext cx="2048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Münster recorded the highest platform-change rate (10.9%), while München changes carried a median delay of about 11 minutes.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Questions 9 and 10 - disruption reasons and recorded platform changes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Num" idx="12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D5A2CA-CEFE-40F2-8708-C4BDDF0B849F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DELIVERY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Interactive dashboard: from static findings to guided exploration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Users can filter by station, train group, day type, sampled date and scheduled hour.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530280" y="1280160"/>
            <a:ext cx="5559120" cy="24868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0" descr="/mnt/data/d.png.png"/>
          <p:cNvPicPr/>
          <p:nvPr/>
        </p:nvPicPr>
        <p:blipFill>
          <a:blip r:embed="rId1"/>
          <a:srcRect l="17998" t="9998" r="-6740" b="19997"/>
          <a:stretch/>
        </p:blipFill>
        <p:spPr>
          <a:xfrm>
            <a:off x="548640" y="1298520"/>
            <a:ext cx="5522760" cy="24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ape 4"/>
          <p:cNvSpPr/>
          <p:nvPr/>
        </p:nvSpPr>
        <p:spPr>
          <a:xfrm>
            <a:off x="6254640" y="1280160"/>
            <a:ext cx="5403600" cy="24868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1" descr="/mnt/data/c.png.png"/>
          <p:cNvPicPr/>
          <p:nvPr/>
        </p:nvPicPr>
        <p:blipFill>
          <a:blip r:embed="rId2"/>
          <a:srcRect l="22998" t="17998" r="-11705" b="9998"/>
          <a:stretch/>
        </p:blipFill>
        <p:spPr>
          <a:xfrm>
            <a:off x="6272640" y="1298520"/>
            <a:ext cx="5367240" cy="24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Shape 5"/>
          <p:cNvSpPr/>
          <p:nvPr/>
        </p:nvSpPr>
        <p:spPr>
          <a:xfrm>
            <a:off x="530280" y="3950280"/>
            <a:ext cx="5559120" cy="1974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2" descr="/mnt/data/b.png.png"/>
          <p:cNvPicPr/>
          <p:nvPr/>
        </p:nvPicPr>
        <p:blipFill>
          <a:blip r:embed="rId3"/>
          <a:srcRect l="22998" t="10999" r="-52803" b="8000"/>
          <a:stretch/>
        </p:blipFill>
        <p:spPr>
          <a:xfrm>
            <a:off x="548640" y="3968640"/>
            <a:ext cx="5522760" cy="19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Shape 6"/>
          <p:cNvSpPr/>
          <p:nvPr/>
        </p:nvSpPr>
        <p:spPr>
          <a:xfrm>
            <a:off x="6254640" y="3950280"/>
            <a:ext cx="5403600" cy="1974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3" descr="/mnt/data/a.png.png"/>
          <p:cNvPicPr/>
          <p:nvPr/>
        </p:nvPicPr>
        <p:blipFill>
          <a:blip r:embed="rId4"/>
          <a:srcRect l="23998" t="13998" r="-45478" b="8000"/>
          <a:stretch/>
        </p:blipFill>
        <p:spPr>
          <a:xfrm>
            <a:off x="6272640" y="3968640"/>
            <a:ext cx="5367240" cy="19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7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Live dashboard: deutsche-bahn-delay-analysis-7rj2tgss6za6aykj3zjnjr.streamlit.app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sldNum" idx="13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F3CDCA-AFD2-4B64-9EC0-607EFA5EC962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530280" y="3474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CLOSE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30280" y="56700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Conclusions, limitations and project access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530280" y="987480"/>
            <a:ext cx="108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analysis is strongest when frequency, severity, station context and operational causes are considered together.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530280" y="1298520"/>
            <a:ext cx="6537600" cy="452592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786240" y="1600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Main conclusions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786240" y="2011680"/>
            <a:ext cx="580608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41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Long-distance services were the weakest-performing category.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41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München had the highest delay rate, while Bielefeld and Bonn had longer typical delays.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41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Delay frequency and delay severity identify different problem areas.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263247"/>
              </a:buClr>
              <a:buFont typeface="Symbol" charset="2"/>
              <a:buChar char=""/>
            </a:pPr>
            <a:r>
              <a:rPr b="0" lang="en-US" sz="141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Operational causes have unequal effects; international lateness and train diversions were especially severe.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786240" y="4709160"/>
            <a:ext cx="576072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786240" y="4937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Key limitation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786240" y="5230440"/>
            <a:ext cx="574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The dataset covers only eight sampled dates, so the findings should not be treated as a full annual assessment of Deutsche Bahn performance.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7296840" y="1298520"/>
            <a:ext cx="4361400" cy="4525920"/>
          </a:xfrm>
          <a:prstGeom prst="roundRect">
            <a:avLst>
              <a:gd name="adj" fmla="val 1677"/>
            </a:avLst>
          </a:prstGeom>
          <a:solidFill>
            <a:srgbClr val="f5f8fc"/>
          </a:solidFill>
          <a:ln w="12700">
            <a:solidFill>
              <a:srgbClr val="d8e0ea"/>
            </a:solidFill>
            <a:round/>
          </a:ln>
          <a:effectLst>
            <a:outerShdw algn="bl" blurRad="23040" dir="2700000" dist="50402" kx="0" ky="0" rotWithShape="0" sx="100000" sy="100000">
              <a:srgbClr val="c7cfd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7571160" y="160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Open the project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0" descr="/mnt/data/ppt_work/github_qr.png"/>
          <p:cNvPicPr/>
          <p:nvPr/>
        </p:nvPicPr>
        <p:blipFill>
          <a:blip r:embed="rId1"/>
          <a:stretch/>
        </p:blipFill>
        <p:spPr>
          <a:xfrm>
            <a:off x="7589520" y="2057400"/>
            <a:ext cx="135288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1">
            <a:hlinkClick r:id="rId2"/>
          </p:cNvPr>
          <p:cNvSpPr/>
          <p:nvPr/>
        </p:nvSpPr>
        <p:spPr>
          <a:xfrm>
            <a:off x="7461360" y="345636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263247"/>
                </a:solidFill>
                <a:effectLst/>
                <a:uFillTx/>
                <a:latin typeface="Arial"/>
                <a:ea typeface="Arial"/>
                <a:hlinkClick r:id="rId3"/>
              </a:rPr>
              <a:t>GitHub repository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1" descr="/mnt/data/ppt_work/streamlit_qr.png"/>
          <p:cNvPicPr/>
          <p:nvPr/>
        </p:nvPicPr>
        <p:blipFill>
          <a:blip r:embed="rId4"/>
          <a:stretch/>
        </p:blipFill>
        <p:spPr>
          <a:xfrm>
            <a:off x="9811440" y="2057400"/>
            <a:ext cx="135288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2">
            <a:hlinkClick r:id="rId5"/>
          </p:cNvPr>
          <p:cNvSpPr/>
          <p:nvPr/>
        </p:nvSpPr>
        <p:spPr>
          <a:xfrm>
            <a:off x="9674280" y="345636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263247"/>
                </a:solidFill>
                <a:effectLst/>
                <a:uFillTx/>
                <a:latin typeface="Arial"/>
                <a:ea typeface="Arial"/>
                <a:hlinkClick r:id="rId6"/>
              </a:rPr>
              <a:t>Live dashboard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7571160" y="3968280"/>
            <a:ext cx="3767400" cy="360"/>
          </a:xfrm>
          <a:prstGeom prst="line">
            <a:avLst/>
          </a:prstGeom>
          <a:ln w="1270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7571160" y="423360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Student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8458200" y="423360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SHAIK KHAJA SOHAIL HUSSAIN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7571160" y="458100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Matriculation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8458200" y="458100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82022509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7571160" y="49287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e44b3c"/>
                </a:solidFill>
                <a:effectLst/>
                <a:uFillTx/>
                <a:latin typeface="Arial"/>
                <a:ea typeface="Arial"/>
              </a:rPr>
              <a:t>Subject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9"/>
          <p:cNvSpPr/>
          <p:nvPr/>
        </p:nvSpPr>
        <p:spPr>
          <a:xfrm>
            <a:off x="8458200" y="492876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263247"/>
                </a:solidFill>
                <a:effectLst/>
                <a:uFillTx/>
                <a:latin typeface="Arial"/>
                <a:ea typeface="Arial"/>
              </a:rPr>
              <a:t>DATA VISUALIZATION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7571160" y="5403960"/>
            <a:ext cx="374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16324f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530280" y="6291000"/>
            <a:ext cx="1106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trike="noStrike" u="none">
                <a:solidFill>
                  <a:srgbClr val="7d8796"/>
                </a:solidFill>
                <a:effectLst/>
                <a:uFillTx/>
                <a:latin typeface="Arial"/>
                <a:ea typeface="Arial"/>
              </a:rPr>
              <a:t>Prepared from final_analysis.ipynb, notebook_export.html and the deployed Streamlit dashboard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14"/>
          </p:nvPr>
        </p:nvSpPr>
        <p:spPr>
          <a:xfrm>
            <a:off x="11722680" y="6546960"/>
            <a:ext cx="2008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8BC26-7FDB-43BB-AA6C-A5105E9D906B}" type="slidenum">
              <a:rPr b="0" lang="en-US" sz="850" strike="noStrike" u="none">
                <a:solidFill>
                  <a:srgbClr val="6b74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itchFamily="0" charset="1"/>
        <a:ea typeface=""/>
        <a:cs typeface=""/>
      </a:majorFont>
      <a:minorFont>
        <a:latin typeface="Liberatio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DATA VISUALIZATION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2026-07-30T14:43:32Z</dcterms:created>
  <dc:creator>SHAIK KHAJA SOHAIL HUSSAIN</dc:creator>
  <dc:description/>
  <dc:language>en-US</dc:language>
  <cp:lastModifiedBy>SHAIK KHAJA SOHAIL HUSSAIN</cp:lastModifiedBy>
  <dcterms:modified xsi:type="dcterms:W3CDTF">2026-07-30T14:43:32Z</dcterms:modified>
  <cp:revision>1</cp:revision>
  <dc:subject>Deutsche Bahn Train Delay Analysis</dc:subject>
  <dc:title>Deutsche Bahn Train Delay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